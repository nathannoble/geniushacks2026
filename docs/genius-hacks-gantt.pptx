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 Workbench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 Hacks Q3 2026 — Project Schedule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14 – September 30, 2026   ·   4 Developers   ·   17 Days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365760" cy="365760"/>
          </a:xfrm>
          <a:prstGeom prst="ellipse">
            <a:avLst/>
          </a:prstGeom>
          <a:solidFill>
            <a:srgbClr val="0B5D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5486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5029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828800" y="5486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5029200"/>
            <a:ext cx="365760" cy="36576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46120" y="5486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83480" y="5029200"/>
            <a:ext cx="365760" cy="365760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5486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Overview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03504"/>
            <a:ext cx="11551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delivery stages across the full schedule (Sept 14 – Sept 30)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1600" y="1463040"/>
            <a:ext cx="539096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" name="Shape 3"/>
          <p:cNvSpPr/>
          <p:nvPr/>
        </p:nvSpPr>
        <p:spPr>
          <a:xfrm>
            <a:off x="6480696" y="1463040"/>
            <a:ext cx="539096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" name="Shape 4"/>
          <p:cNvSpPr/>
          <p:nvPr/>
        </p:nvSpPr>
        <p:spPr>
          <a:xfrm>
            <a:off x="9715271" y="1463040"/>
            <a:ext cx="539096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" name="Shape 5"/>
          <p:cNvSpPr/>
          <p:nvPr/>
        </p:nvSpPr>
        <p:spPr>
          <a:xfrm>
            <a:off x="10254367" y="1463040"/>
            <a:ext cx="539096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46120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14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85216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85216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15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24312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4312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16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863408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3408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17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02504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02504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18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1600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1600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19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480696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80696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019792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19792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21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558888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58888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22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97984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7984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23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637080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37080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24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176175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76175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25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715271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15271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26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254367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54367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27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0793463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793463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28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1332559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1332559" y="1133856"/>
            <a:ext cx="539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29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1871655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20040" y="1463040"/>
            <a:ext cx="2788920" cy="734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Expansion (all)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46120" y="1639232"/>
            <a:ext cx="539096" cy="381749"/>
          </a:xfrm>
          <a:prstGeom prst="roundRect">
            <a:avLst>
              <a:gd name="adj" fmla="val 1197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320040" y="2197173"/>
            <a:ext cx="2788920" cy="734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 (all, shared)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85216" y="2373364"/>
            <a:ext cx="1617288" cy="381749"/>
          </a:xfrm>
          <a:prstGeom prst="roundRect">
            <a:avLst>
              <a:gd name="adj" fmla="val 11976"/>
            </a:avLst>
          </a:prstGeom>
          <a:solidFill>
            <a:srgbClr val="0B5D8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320040" y="2931305"/>
            <a:ext cx="2788920" cy="734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(per-developer workstreams)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02504" y="3107497"/>
            <a:ext cx="4851864" cy="381749"/>
          </a:xfrm>
          <a:prstGeom prst="roundRect">
            <a:avLst>
              <a:gd name="adj" fmla="val 1197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320040" y="3665438"/>
            <a:ext cx="2788920" cy="734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 (overlapping)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97984" y="3841630"/>
            <a:ext cx="3234576" cy="381749"/>
          </a:xfrm>
          <a:prstGeom prst="roundRect">
            <a:avLst>
              <a:gd name="adj" fmla="val 11976"/>
            </a:avLst>
          </a:prstGeom>
          <a:solidFill>
            <a:srgbClr val="3E92C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320040" y="4399570"/>
            <a:ext cx="2788920" cy="734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176175" y="4575762"/>
            <a:ext cx="1617288" cy="381749"/>
          </a:xfrm>
          <a:prstGeom prst="roundRect">
            <a:avLst>
              <a:gd name="adj" fmla="val 11976"/>
            </a:avLst>
          </a:prstGeom>
          <a:solidFill>
            <a:srgbClr val="5FA8D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320040" y="5133703"/>
            <a:ext cx="2788920" cy="734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Observability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176175" y="5309895"/>
            <a:ext cx="1617288" cy="381749"/>
          </a:xfrm>
          <a:prstGeom prst="roundRect">
            <a:avLst>
              <a:gd name="adj" fmla="val 11976"/>
            </a:avLst>
          </a:prstGeom>
          <a:solidFill>
            <a:srgbClr val="8FC1E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320040" y="5867835"/>
            <a:ext cx="2788920" cy="734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Packaging, Rehearsal &amp; Submission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793463" y="6044027"/>
            <a:ext cx="1078192" cy="381749"/>
          </a:xfrm>
          <a:prstGeom prst="roundRect">
            <a:avLst>
              <a:gd name="adj" fmla="val 11976"/>
            </a:avLst>
          </a:prstGeom>
          <a:solidFill>
            <a:srgbClr val="B03A2E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246120" y="1088136"/>
            <a:ext cx="0" cy="5513832"/>
          </a:xfrm>
          <a:prstGeom prst="line">
            <a:avLst/>
          </a:prstGeom>
          <a:noFill/>
          <a:ln w="19050">
            <a:solidFill>
              <a:srgbClr val="3E7D57"/>
            </a:solidFill>
            <a:prstDash val="dash"/>
          </a:ln>
        </p:spPr>
      </p:sp>
      <p:sp>
        <p:nvSpPr>
          <p:cNvPr id="56" name="Text 54"/>
          <p:cNvSpPr txBox="1"/>
          <p:nvPr/>
        </p:nvSpPr>
        <p:spPr>
          <a:xfrm>
            <a:off x="2606040" y="905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1871655" y="1088136"/>
            <a:ext cx="0" cy="5513832"/>
          </a:xfrm>
          <a:prstGeom prst="line">
            <a:avLst/>
          </a:prstGeom>
          <a:noFill/>
          <a:ln w="19050">
            <a:solidFill>
              <a:srgbClr val="B03A2E"/>
            </a:solidFill>
            <a:prstDash val="dash"/>
          </a:ln>
        </p:spPr>
      </p:sp>
      <p:sp>
        <p:nvSpPr>
          <p:cNvPr id="58" name="Text 56"/>
          <p:cNvSpPr txBox="1"/>
          <p:nvPr/>
        </p:nvSpPr>
        <p:spPr>
          <a:xfrm>
            <a:off x="10591495" y="905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Detail — Shared Design &amp;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03504"/>
            <a:ext cx="11551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developers work together before splitting into workstreams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343400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343400" y="1133856"/>
            <a:ext cx="15056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14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849051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49051" y="1133856"/>
            <a:ext cx="15056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15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54702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54702" y="1133856"/>
            <a:ext cx="15056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16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860353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0353" y="1133856"/>
            <a:ext cx="15056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17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0366004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366004" y="1133856"/>
            <a:ext cx="15056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18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871655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1463040"/>
            <a:ext cx="3886200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&amp; requirement-expansion workshop (Sep 14–15)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1771376"/>
            <a:ext cx="1505651" cy="668061"/>
          </a:xfrm>
          <a:prstGeom prst="roundRect">
            <a:avLst>
              <a:gd name="adj" fmla="val 68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20040" y="2747772"/>
            <a:ext cx="3886200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&amp; system architecture design (Sep 15–17)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49051" y="3056108"/>
            <a:ext cx="3011302" cy="668061"/>
          </a:xfrm>
          <a:prstGeom prst="roundRect">
            <a:avLst>
              <a:gd name="adj" fmla="val 68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20040" y="4032504"/>
            <a:ext cx="3886200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model &amp; governance framework design (Sep 16–18)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54702" y="4340840"/>
            <a:ext cx="3011302" cy="668061"/>
          </a:xfrm>
          <a:prstGeom prst="roundRect">
            <a:avLst>
              <a:gd name="adj" fmla="val 68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20040" y="5317236"/>
            <a:ext cx="3886200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design (Sep 17–18)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60353" y="5625572"/>
            <a:ext cx="1505651" cy="668061"/>
          </a:xfrm>
          <a:prstGeom prst="roundRect">
            <a:avLst>
              <a:gd name="adj" fmla="val 68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366004" y="1088136"/>
            <a:ext cx="0" cy="5513832"/>
          </a:xfrm>
          <a:prstGeom prst="line">
            <a:avLst/>
          </a:prstGeom>
          <a:noFill/>
          <a:ln w="19050">
            <a:solidFill>
              <a:srgbClr val="3E7D57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9725924" y="905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workstreams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Schedule — Developers 1 &amp; 2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03504"/>
            <a:ext cx="11551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18 – Sept 29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70755" y="1463040"/>
            <a:ext cx="627355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" name="Shape 3"/>
          <p:cNvSpPr/>
          <p:nvPr/>
        </p:nvSpPr>
        <p:spPr>
          <a:xfrm>
            <a:off x="5598109" y="1463040"/>
            <a:ext cx="627355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" name="Shape 4"/>
          <p:cNvSpPr/>
          <p:nvPr/>
        </p:nvSpPr>
        <p:spPr>
          <a:xfrm>
            <a:off x="9362237" y="1463040"/>
            <a:ext cx="627355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" name="Shape 5"/>
          <p:cNvSpPr/>
          <p:nvPr/>
        </p:nvSpPr>
        <p:spPr>
          <a:xfrm>
            <a:off x="9989591" y="1463040"/>
            <a:ext cx="627355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0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18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70755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70755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19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598109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8109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225464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5464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21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2818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2818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22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80173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80173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23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107528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07528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24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734882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34882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25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362237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62237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26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989591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89591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27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616946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16946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28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1244301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244301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29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1871655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1492405"/>
            <a:ext cx="11551615" cy="30833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9768" y="1463040"/>
            <a:ext cx="11368735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D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1 — AGENT ORCHESTRATION &amp; AI HARNESS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20040" y="1830106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 skeleton setup (LangGraph) (18–19)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1918202"/>
            <a:ext cx="627355" cy="190874"/>
          </a:xfrm>
          <a:prstGeom prst="roundRect">
            <a:avLst>
              <a:gd name="adj" fmla="val 23953"/>
            </a:avLst>
          </a:prstGeom>
          <a:solidFill>
            <a:srgbClr val="0B5D8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320040" y="2197173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intake / requirements agent (19–21)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70755" y="2285268"/>
            <a:ext cx="1254709" cy="190874"/>
          </a:xfrm>
          <a:prstGeom prst="roundRect">
            <a:avLst>
              <a:gd name="adj" fmla="val 23953"/>
            </a:avLst>
          </a:prstGeom>
          <a:solidFill>
            <a:srgbClr val="0B5D8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20040" y="2564239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risk-scoring agent + RAG hookup (21–24)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25464" y="2652335"/>
            <a:ext cx="1882064" cy="190874"/>
          </a:xfrm>
          <a:prstGeom prst="roundRect">
            <a:avLst>
              <a:gd name="adj" fmla="val 23953"/>
            </a:avLst>
          </a:prstGeom>
          <a:solidFill>
            <a:srgbClr val="0B5D8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320040" y="2931305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governance / human-review-gate agent (24–26)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07528" y="3019401"/>
            <a:ext cx="1254709" cy="190874"/>
          </a:xfrm>
          <a:prstGeom prst="roundRect">
            <a:avLst>
              <a:gd name="adj" fmla="val 23953"/>
            </a:avLst>
          </a:prstGeom>
          <a:solidFill>
            <a:srgbClr val="0B5D8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320040" y="3298371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integration &amp; prompt tuning (26–28)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62237" y="3386467"/>
            <a:ext cx="1254709" cy="190874"/>
          </a:xfrm>
          <a:prstGeom prst="roundRect">
            <a:avLst>
              <a:gd name="adj" fmla="val 23953"/>
            </a:avLst>
          </a:prstGeom>
          <a:solidFill>
            <a:srgbClr val="0B5D8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320040" y="3665438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integration testing &amp; polish (28–29)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616946" y="3753534"/>
            <a:ext cx="627355" cy="190874"/>
          </a:xfrm>
          <a:prstGeom prst="roundRect">
            <a:avLst>
              <a:gd name="adj" fmla="val 23953"/>
            </a:avLst>
          </a:prstGeom>
          <a:solidFill>
            <a:srgbClr val="0B5D8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4061869"/>
            <a:ext cx="11551615" cy="30833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9768" y="4032504"/>
            <a:ext cx="11368735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2 — DOMAIN, DATA &amp; RETRIEVAL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320040" y="4399570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supervisory risk-scoring frameworks (18–19)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43400" y="4487666"/>
            <a:ext cx="627355" cy="190874"/>
          </a:xfrm>
          <a:prstGeom prst="roundRect">
            <a:avLst>
              <a:gd name="adj" fmla="val 2395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320040" y="4766637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synthetic data sets (19–21)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70755" y="4854732"/>
            <a:ext cx="1254709" cy="190874"/>
          </a:xfrm>
          <a:prstGeom prst="roundRect">
            <a:avLst>
              <a:gd name="adj" fmla="val 2395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320040" y="5133703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RAG / retrieval layer (embeddings, vector store) (21–24)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25464" y="5221799"/>
            <a:ext cx="1882064" cy="190874"/>
          </a:xfrm>
          <a:prstGeom prst="roundRect">
            <a:avLst>
              <a:gd name="adj" fmla="val 2395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320040" y="5500769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risk-scoring methodology vs. framework (24–26)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107528" y="5588865"/>
            <a:ext cx="1254709" cy="190874"/>
          </a:xfrm>
          <a:prstGeom prst="roundRect">
            <a:avLst>
              <a:gd name="adj" fmla="val 2395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320040" y="5867835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requirement-expansion document (26–27)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362237" y="5955931"/>
            <a:ext cx="627355" cy="190874"/>
          </a:xfrm>
          <a:prstGeom prst="roundRect">
            <a:avLst>
              <a:gd name="adj" fmla="val 2395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320040" y="6234902"/>
            <a:ext cx="3886200" cy="36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eval test-data prep &amp; polish (27–29)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989591" y="6322998"/>
            <a:ext cx="1254709" cy="190874"/>
          </a:xfrm>
          <a:prstGeom prst="roundRect">
            <a:avLst>
              <a:gd name="adj" fmla="val 2395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1871655" y="1088136"/>
            <a:ext cx="0" cy="5513832"/>
          </a:xfrm>
          <a:prstGeom prst="line">
            <a:avLst/>
          </a:prstGeom>
          <a:noFill/>
          <a:ln w="19050">
            <a:solidFill>
              <a:srgbClr val="B03A2E"/>
            </a:solidFill>
            <a:prstDash val="dash"/>
          </a:ln>
        </p:spPr>
      </p:sp>
      <p:sp>
        <p:nvSpPr>
          <p:cNvPr id="62" name="Text 60"/>
          <p:cNvSpPr txBox="1"/>
          <p:nvPr/>
        </p:nvSpPr>
        <p:spPr>
          <a:xfrm>
            <a:off x="10591495" y="905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11551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Schedule — Developers 3 &amp; 4, Final Integration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03504"/>
            <a:ext cx="11551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18 – Sept 30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70755" y="1463040"/>
            <a:ext cx="627355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" name="Shape 3"/>
          <p:cNvSpPr/>
          <p:nvPr/>
        </p:nvSpPr>
        <p:spPr>
          <a:xfrm>
            <a:off x="5598109" y="1463040"/>
            <a:ext cx="627355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6" name="Shape 4"/>
          <p:cNvSpPr/>
          <p:nvPr/>
        </p:nvSpPr>
        <p:spPr>
          <a:xfrm>
            <a:off x="9362237" y="1463040"/>
            <a:ext cx="627355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7" name="Shape 5"/>
          <p:cNvSpPr/>
          <p:nvPr/>
        </p:nvSpPr>
        <p:spPr>
          <a:xfrm>
            <a:off x="9989591" y="1463040"/>
            <a:ext cx="627355" cy="5138928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8" name="Shape 6"/>
          <p:cNvSpPr/>
          <p:nvPr/>
        </p:nvSpPr>
        <p:spPr>
          <a:xfrm>
            <a:off x="4343400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18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70755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70755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19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598109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8109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225464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25464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21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52818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2818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22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80173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80173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23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107528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07528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24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734882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34882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25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362237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62237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26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989591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89591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27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616946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16946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28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1244301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244301" y="1133856"/>
            <a:ext cx="6273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29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1871655" y="1463040"/>
            <a:ext cx="0" cy="5138928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1487223"/>
            <a:ext cx="11551615" cy="25392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29768" y="1463040"/>
            <a:ext cx="11368735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92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3 — APPLICATION, INTEGRATION &amp; DEPLOYMENT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20040" y="1765330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UI wireframes &amp; project setup (18–19)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1837879"/>
            <a:ext cx="627355" cy="157191"/>
          </a:xfrm>
          <a:prstGeom prst="roundRect">
            <a:avLst>
              <a:gd name="adj" fmla="val 29086"/>
            </a:avLst>
          </a:prstGeom>
          <a:solidFill>
            <a:srgbClr val="3E92C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320040" y="2067620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&amp; agent integration hooks (19–22)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70755" y="2140169"/>
            <a:ext cx="1882064" cy="157191"/>
          </a:xfrm>
          <a:prstGeom prst="roundRect">
            <a:avLst>
              <a:gd name="adj" fmla="val 29086"/>
            </a:avLst>
          </a:prstGeom>
          <a:solidFill>
            <a:srgbClr val="3E92C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20040" y="2369910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workbench UI: dashboard &amp; review queue (22–25)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2818" y="2442459"/>
            <a:ext cx="1882064" cy="157191"/>
          </a:xfrm>
          <a:prstGeom prst="roundRect">
            <a:avLst>
              <a:gd name="adj" fmla="val 29086"/>
            </a:avLst>
          </a:prstGeom>
          <a:solidFill>
            <a:srgbClr val="3E92C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320040" y="2672200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app (Docker) &amp; CI pipeline (25–27)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734882" y="2744749"/>
            <a:ext cx="1254709" cy="157191"/>
          </a:xfrm>
          <a:prstGeom prst="roundRect">
            <a:avLst>
              <a:gd name="adj" fmla="val 29086"/>
            </a:avLst>
          </a:prstGeom>
          <a:solidFill>
            <a:srgbClr val="3E92C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320040" y="2974489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spec &amp; production readiness checklist (27–28)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989591" y="3047039"/>
            <a:ext cx="627355" cy="157191"/>
          </a:xfrm>
          <a:prstGeom prst="roundRect">
            <a:avLst>
              <a:gd name="adj" fmla="val 29086"/>
            </a:avLst>
          </a:prstGeom>
          <a:solidFill>
            <a:srgbClr val="3E92C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320040" y="3276779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integration testing &amp; polish (28–29)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616946" y="3349329"/>
            <a:ext cx="627355" cy="157191"/>
          </a:xfrm>
          <a:prstGeom prst="roundRect">
            <a:avLst>
              <a:gd name="adj" fmla="val 29086"/>
            </a:avLst>
          </a:prstGeom>
          <a:solidFill>
            <a:srgbClr val="3E92CC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3603252"/>
            <a:ext cx="11551615" cy="25392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9768" y="3579069"/>
            <a:ext cx="11368735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4 — EVALUATION, GOVERNANCE &amp; OBSERVABILITY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320040" y="3881359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eval harness: Ragas/DeepEval + Langfuse (18–20)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43400" y="3953909"/>
            <a:ext cx="1254709" cy="157191"/>
          </a:xfrm>
          <a:prstGeom prst="roundRect">
            <a:avLst>
              <a:gd name="adj" fmla="val 29086"/>
            </a:avLst>
          </a:prstGeom>
          <a:solidFill>
            <a:srgbClr val="5FA8D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320040" y="4183649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test suite: unit &amp; integration (20–23)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98109" y="4256199"/>
            <a:ext cx="1882064" cy="157191"/>
          </a:xfrm>
          <a:prstGeom prst="roundRect">
            <a:avLst>
              <a:gd name="adj" fmla="val 29086"/>
            </a:avLst>
          </a:prstGeom>
          <a:solidFill>
            <a:srgbClr val="5FA8D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320040" y="4485939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governance framework documentation (23–25)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80173" y="4558488"/>
            <a:ext cx="1254709" cy="157191"/>
          </a:xfrm>
          <a:prstGeom prst="roundRect">
            <a:avLst>
              <a:gd name="adj" fmla="val 29086"/>
            </a:avLst>
          </a:prstGeom>
          <a:solidFill>
            <a:srgbClr val="5FA8D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320040" y="4788229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observability &amp; monitoring dashboards (25–27)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734882" y="4860778"/>
            <a:ext cx="1254709" cy="157191"/>
          </a:xfrm>
          <a:prstGeom prst="roundRect">
            <a:avLst>
              <a:gd name="adj" fmla="val 29086"/>
            </a:avLst>
          </a:prstGeom>
          <a:solidFill>
            <a:srgbClr val="5FA8D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320040" y="5090519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architecture diagrams (27–28)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989591" y="5163068"/>
            <a:ext cx="627355" cy="157191"/>
          </a:xfrm>
          <a:prstGeom prst="roundRect">
            <a:avLst>
              <a:gd name="adj" fmla="val 29086"/>
            </a:avLst>
          </a:prstGeom>
          <a:solidFill>
            <a:srgbClr val="5FA8D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320040" y="5392808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presentation deck &amp; coordinate rehearsal (28–29)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0616946" y="5465358"/>
            <a:ext cx="627355" cy="157191"/>
          </a:xfrm>
          <a:prstGeom prst="roundRect">
            <a:avLst>
              <a:gd name="adj" fmla="val 29086"/>
            </a:avLst>
          </a:prstGeom>
          <a:solidFill>
            <a:srgbClr val="5FA8D3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0040" y="5719282"/>
            <a:ext cx="11551615" cy="25392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29768" y="5695098"/>
            <a:ext cx="11368735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DEVELOPERS — FINAL INTEGRATION</a:t>
            </a:r>
            <a:endParaRPr lang="en-US" sz="1250" dirty="0"/>
          </a:p>
        </p:txBody>
      </p:sp>
      <p:sp>
        <p:nvSpPr>
          <p:cNvPr id="63" name="Text 61"/>
          <p:cNvSpPr txBox="1"/>
          <p:nvPr/>
        </p:nvSpPr>
        <p:spPr>
          <a:xfrm>
            <a:off x="320040" y="5997388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testing &amp; demo rehearsal (28–29)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616946" y="6069938"/>
            <a:ext cx="627355" cy="157191"/>
          </a:xfrm>
          <a:prstGeom prst="roundRect">
            <a:avLst>
              <a:gd name="adj" fmla="val 29086"/>
            </a:avLst>
          </a:prstGeom>
          <a:solidFill>
            <a:srgbClr val="B03A2E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320040" y="6299678"/>
            <a:ext cx="3886200" cy="30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packaging &amp; final review (29–30)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1244301" y="6372228"/>
            <a:ext cx="627355" cy="157191"/>
          </a:xfrm>
          <a:prstGeom prst="roundRect">
            <a:avLst>
              <a:gd name="adj" fmla="val 29086"/>
            </a:avLst>
          </a:prstGeom>
          <a:solidFill>
            <a:srgbClr val="B03A2E"/>
          </a:solidFill>
          <a:ln/>
          <a:effectLst>
            <a:outerShdw sx="100000" sy="100000" kx="0" ky="0" algn="bl" rotWithShape="0" blurRad="38100" dist="12700" dir="5400000">
              <a:srgbClr val="000000">
                <a:alpha val="1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1871655" y="1088136"/>
            <a:ext cx="0" cy="5513832"/>
          </a:xfrm>
          <a:prstGeom prst="line">
            <a:avLst/>
          </a:prstGeom>
          <a:noFill/>
          <a:ln w="19050">
            <a:solidFill>
              <a:srgbClr val="B03A2E"/>
            </a:solidFill>
            <a:prstDash val="dash"/>
          </a:ln>
        </p:spPr>
      </p:sp>
      <p:sp>
        <p:nvSpPr>
          <p:cNvPr id="68" name="Text 66"/>
          <p:cNvSpPr txBox="1"/>
          <p:nvPr/>
        </p:nvSpPr>
        <p:spPr>
          <a:xfrm>
            <a:off x="10591495" y="905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2026-09-14T17:40:14Z</dcterms:created>
  <dcterms:modified xsi:type="dcterms:W3CDTF">2026-09-14T17:40:14Z</dcterms:modified>
</cp:coreProperties>
</file>